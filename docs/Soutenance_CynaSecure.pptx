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2011680"/>
            <a:ext cx="6400800" cy="640080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CYBERSÉCURITÉ · SAAS · E-COMMERCE B2B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CynaSecure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e-commerce pour la commercialisation de services de cybersécurité en mode SaaS — site web, back-office et application mobile.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B3 — DEV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H3 HITEMA   ·   Promotion 2025-2026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Mouad BOUNOKRA  ·  Pharell TITI  ·  Nolwen FERNANDES  ·  Wissal LIDAM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L'ÉQUIPE PROJET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Quatre rôles, une plateforme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12848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Mouad BOUNOKRA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2633472"/>
            <a:ext cx="426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&amp; BASE DE DONNÉES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971800"/>
            <a:ext cx="422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React, design système, schéma MySQL et modèle de données.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192024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0208" y="224028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010248" y="2212848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Pharell TITI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10248" y="2633472"/>
            <a:ext cx="426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10248" y="2971800"/>
            <a:ext cx="422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Symfony, logique métier, paiements et sécurité serveur.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61772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590288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Nolwen FERNANDES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80160" y="5010912"/>
            <a:ext cx="426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BACK-OFFICE ADMIN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5349240"/>
            <a:ext cx="422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gestion des services, commandes et statistiques.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70168" y="4297680"/>
            <a:ext cx="5181448" cy="1965960"/>
          </a:xfrm>
          <a:prstGeom prst="roundRect">
            <a:avLst>
              <a:gd name="adj" fmla="val 3721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90208" y="4617720"/>
            <a:ext cx="146304" cy="1325880"/>
          </a:xfrm>
          <a:prstGeom prst="roundRect">
            <a:avLst>
              <a:gd name="adj" fmla="val 3125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010248" y="4590288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Wissal LIDAM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010248" y="5010912"/>
            <a:ext cx="426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MOBILE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10248" y="5349240"/>
            <a:ext cx="422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React Native miroir du site, consommant la même API.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 &amp; PROBLÉMATIQUE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besoin du client Cyna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situation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697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Cyna vend des solutions de cybersécurité (SOC, EDR, XDR) en B2B.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3832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vente passe uniquement par des commerciaux et un réseau de distribution.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069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4069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présence e-commerce : accès aux services lent et peu accessible.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920240"/>
            <a:ext cx="5059375" cy="4023360"/>
          </a:xfrm>
          <a:prstGeom prst="roundRect">
            <a:avLst>
              <a:gd name="adj" fmla="val 1818"/>
            </a:avLst>
          </a:prstGeom>
          <a:solidFill>
            <a:srgbClr val="1E1E24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L'objectif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697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2697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plateforme e-commerce mobile-first.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3558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33558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mobile miroir du site web.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0142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401421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back-office complet de gestion.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467258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6725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paiement sécurisé et évolutif.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NOTRE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composants, une seule API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71418" cy="3291840"/>
          </a:xfrm>
          <a:prstGeom prst="roundRect">
            <a:avLst>
              <a:gd name="adj" fmla="val 223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web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631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069080"/>
            <a:ext cx="2631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panier, paiement, espace client et back-office administrateur.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60138" y="2103120"/>
            <a:ext cx="3271418" cy="3291840"/>
          </a:xfrm>
          <a:prstGeom prst="roundRect">
            <a:avLst>
              <a:gd name="adj" fmla="val 223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0178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0178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80178" y="32918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80178" y="3703320"/>
            <a:ext cx="2631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SYMFONY + MYSQL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0178" y="4069080"/>
            <a:ext cx="2631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logique métier centralisée : 107 endpoints documentés (Swagger).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80197" y="2103120"/>
            <a:ext cx="3271418" cy="3291840"/>
          </a:xfrm>
          <a:prstGeom prst="roundRect">
            <a:avLst>
              <a:gd name="adj" fmla="val 223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00237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0237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00237" y="32918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mobile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00237" y="3703320"/>
            <a:ext cx="2631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(EXPO)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00237" y="4069080"/>
            <a:ext cx="263133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Miroir du site, consomme la même API. iOS et Android.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et le mobile ne dupliquent aucune logique : ils consomment la même API et la même base de données.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VEILLE CONCURRENTIELLE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créneau peu occupé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ACTEUR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0624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 / OPPORTUNITÉ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59736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/ Azure Marketplace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06240" y="2459736"/>
            <a:ext cx="3383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SaaS très riche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2459736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uniquement, orienté experts, pas d'app d'achat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92424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CrowdStrike, SentinelOne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06240" y="3392424"/>
            <a:ext cx="3383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de référence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80960" y="339242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vente self-service simple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2511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/ Google Play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06240" y="4325112"/>
            <a:ext cx="3383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parcours d'achat natif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0" y="432511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public, pas de cybersécurité B2B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1E1E24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21224"/>
            <a:ext cx="109728" cy="84124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578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CynaSecure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206240" y="5257800"/>
            <a:ext cx="3383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native + UX e-commerce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80960" y="525780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PME, tunnel d'achat complet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FONCTIONNALITÉS — ESPACE CLIENT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parcours d'achat complet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0428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2267712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8142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à 5 facettes, tri, pagination, fiches détaillées.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01168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1306" y="230428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118506" y="2267712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Panier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88738" y="2788920"/>
            <a:ext cx="28142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mensuel / annuel, codes promo, persistance de session.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7317" y="201168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9925" y="230428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847125" y="2267712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Tunnel de commande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7357" y="2788920"/>
            <a:ext cx="28142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étapes : identité, adresse, paiement, confirmation.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31596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888" y="4279392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Compte client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0120" y="4800600"/>
            <a:ext cx="28142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Abonnements, commandes, adresses, moyens de paiement.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8698" y="40233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1306" y="431596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118506" y="4279392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du compte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88738" y="4800600"/>
            <a:ext cx="28142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e-mail, 2FA, mot de passe fort.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7317" y="40233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9925" y="4315968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847125" y="4279392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17357" y="4800600"/>
            <a:ext cx="28142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 et chatbot avec FAQ.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FONCTIONNALITÉS — BACK-OFFICE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Pilotage administrateur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de bord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743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: services, utilisateurs, abonnements actifs, MRR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3101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3101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par jour et par semaine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387705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8770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par catégorie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44439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44439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ventes par catégorie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5425135" cy="3931920"/>
          </a:xfrm>
          <a:prstGeom prst="roundRect">
            <a:avLst>
              <a:gd name="adj" fmla="val 1860"/>
            </a:avLst>
          </a:prstGeom>
          <a:solidFill>
            <a:srgbClr val="1E1E24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&amp; modération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2743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catégories et contenu de la page d'accueil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3101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3101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Utilisateurs, abonnements et paiements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387705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38770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promotionnels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444398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44439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contact et conversations chatbot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12280" y="50109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obligatoire pour les comptes admin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architecture découplée</a:t>
            </a:r>
            <a:endParaRPr lang="en-US" sz="3400" dirty="0"/>
          </a:p>
        </p:txBody>
      </p:sp>
      <p:pic>
        <p:nvPicPr>
          <p:cNvPr id="4" name="Image 0" descr="/Users/mouad/Cynasecure/docs/diagrams/01_architecture_glob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5508" y="2057400"/>
            <a:ext cx="54406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MODÈLE DE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schéma de la base</a:t>
            </a:r>
            <a:endParaRPr lang="en-US" sz="3400" dirty="0"/>
          </a:p>
        </p:txBody>
      </p:sp>
      <p:pic>
        <p:nvPicPr>
          <p:cNvPr id="4" name="Image 0" descr="/Users/mouad/Cynasecure/docs/diagrams/02_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9788" y="1920240"/>
            <a:ext cx="55321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technologies éprouvées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71418" cy="3383280"/>
          </a:xfrm>
          <a:prstGeom prst="roundRect">
            <a:avLst>
              <a:gd name="adj" fmla="val 223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3108960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3017520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675888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584448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242816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151376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i18next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4809744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18304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· Vitest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60138" y="2103120"/>
            <a:ext cx="3271418" cy="3383280"/>
          </a:xfrm>
          <a:prstGeom prst="roundRect">
            <a:avLst>
              <a:gd name="adj" fmla="val 223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0178" y="23774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80178" y="3108960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54498" y="3017520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· Symfony 7.4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80178" y="3675888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54498" y="3584448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ORM 3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80178" y="4242816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054498" y="4151376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80178" y="4809744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54498" y="4718304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PayPal · Dompdf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80197" y="2103120"/>
            <a:ext cx="3271418" cy="3383280"/>
          </a:xfrm>
          <a:prstGeom prst="roundRect">
            <a:avLst>
              <a:gd name="adj" fmla="val 2236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00237" y="237744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00237" y="310896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874557" y="3017520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600237" y="3675888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8874557" y="3584448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· React 19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600237" y="4242816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874557" y="4151376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7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600237" y="4809744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874557" y="4718304"/>
            <a:ext cx="23570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React Native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SÉCURITÉ &amp; CONFORMITÉ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sécurité au cœur du projet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28600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Argon2id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9260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des mots de passe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6544" y="201168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2576" y="228600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2FA (TOTP)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92576" y="29260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pour les admins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01168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9040" y="228600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throttling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89040" y="29260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tentatives / 15 min anti-force-brute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9471" y="201168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5503" y="228600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verrouillé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85503" y="29260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restreintes, pas de wildcard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2976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Webhooks signés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493776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PayPal vérifiés côté serveur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36544" y="402336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2576" y="42976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de fraude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92576" y="493776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Radar + scoring interne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3008" y="402336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9040" y="42976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HttpOnly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89040" y="493776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token exposé au JavaScript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29471" y="4023360"/>
            <a:ext cx="2522144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5503" y="429768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RGPD &amp; PCI-DSS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5503" y="4937760"/>
            <a:ext cx="2064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carte stockée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PAIEMENT &amp; FACTURATION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tunnel sécurisé et fiable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04288"/>
            <a:ext cx="146304" cy="110642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28600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Stripe Elements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2761488"/>
            <a:ext cx="2585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bancaires + 3D Secure / SCA automatique.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8698" y="201168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1306" y="2304288"/>
            <a:ext cx="146304" cy="110642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63058" y="228600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PayPal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63058" y="2761488"/>
            <a:ext cx="2585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alternatif en mode sandbox.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7317" y="201168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9925" y="2304288"/>
            <a:ext cx="146304" cy="110642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691677" y="228600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de fraude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91677" y="2761488"/>
            <a:ext cx="2585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sur l'IP, la fréquence et l'e-mail.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315968"/>
            <a:ext cx="146304" cy="110642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29768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Factures PDF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34440" y="4773168"/>
            <a:ext cx="2585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Générées automatiquement (Dompdf), téléchargeables.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8698" y="40233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1306" y="4315968"/>
            <a:ext cx="146304" cy="1106424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63058" y="429768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Webhooks signés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963058" y="4773168"/>
            <a:ext cx="2585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asynchrone et fiable des paiements.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7317" y="40233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9925" y="4315968"/>
            <a:ext cx="146304" cy="110642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691677" y="4297680"/>
            <a:ext cx="2631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Renouvellement auto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691677" y="4773168"/>
            <a:ext cx="2585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Symfony planifiable en cron.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MOBILE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site, dans la poche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app native, pas une copie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Développée en React Native (Expo SDK 54).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3558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3558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 tous les parcours du site web.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39227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9227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 exactement la même API Symfony.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44897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4897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 session par cookie sécurisé.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5056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56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FR / EN / ES, thème sombre.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75120" y="2011680"/>
            <a:ext cx="4876495" cy="3931920"/>
          </a:xfrm>
          <a:prstGeom prst="roundRect">
            <a:avLst>
              <a:gd name="adj" fmla="val 1860"/>
            </a:avLst>
          </a:prstGeom>
          <a:solidFill>
            <a:srgbClr val="1E1E24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c'est notable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marketplaces SaaS (AWS, Azure, Google Cloud) n'ont pas d'application mobile native dédiée à l'achat. CynaSecure transpose le confort d'un app store grand public à la vente de cybersécurité pour les PME.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MÉTHODOLOGIE &amp; GESTION DE PROJET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Scrum sur 10 sprints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2628900"/>
            <a:ext cx="1752539" cy="0"/>
          </a:xfrm>
          <a:prstGeom prst="line">
            <a:avLst/>
          </a:prstGeom>
          <a:noFill/>
          <a:ln w="19050">
            <a:solidFill>
              <a:srgbClr val="2D2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21640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22097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Besoins, maquettes, architecture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95539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5539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98459" y="2628900"/>
            <a:ext cx="1752539" cy="0"/>
          </a:xfrm>
          <a:prstGeom prst="line">
            <a:avLst/>
          </a:prstGeom>
          <a:noFill/>
          <a:ln w="19050">
            <a:solidFill>
              <a:srgbClr val="2D2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2659" y="3063240"/>
            <a:ext cx="21640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2659" y="3456432"/>
            <a:ext cx="22097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comptes, paiement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50998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099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53918" y="2628900"/>
            <a:ext cx="1752539" cy="0"/>
          </a:xfrm>
          <a:prstGeom prst="line">
            <a:avLst/>
          </a:prstGeom>
          <a:noFill/>
          <a:ln w="19050">
            <a:solidFill>
              <a:srgbClr val="2D2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8118" y="3063240"/>
            <a:ext cx="21640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Back-office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68118" y="3456432"/>
            <a:ext cx="22097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Gestion, statistiques, modération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457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457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909377" y="2628900"/>
            <a:ext cx="1752539" cy="0"/>
          </a:xfrm>
          <a:prstGeom prst="line">
            <a:avLst/>
          </a:prstGeom>
          <a:noFill/>
          <a:ln w="19050">
            <a:solidFill>
              <a:srgbClr val="2D2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577" y="3063240"/>
            <a:ext cx="21640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577" y="3456432"/>
            <a:ext cx="22097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miroir, tests sur device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61916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191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79036" y="3063240"/>
            <a:ext cx="21640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production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79036" y="3456432"/>
            <a:ext cx="22097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recette, soutenance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2522144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3776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— backlog &amp; sprints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36544" y="4937760"/>
            <a:ext cx="2522144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5144" y="493776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— communication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33008" y="4937760"/>
            <a:ext cx="2522144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1608" y="493776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029471" y="4937760"/>
            <a:ext cx="2522144" cy="914400"/>
          </a:xfrm>
          <a:prstGeom prst="roundRect">
            <a:avLst>
              <a:gd name="adj" fmla="val 8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8071" y="493776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tests API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rétroplanning du projet</a:t>
            </a:r>
            <a:endParaRPr lang="en-US" sz="3400" dirty="0"/>
          </a:p>
        </p:txBody>
      </p:sp>
      <p:pic>
        <p:nvPicPr>
          <p:cNvPr id="4" name="Image 0" descr="/Users/mouad/Cynasecure/docs/diagrams/07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248" y="1600200"/>
            <a:ext cx="73152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&amp; QUALITÉ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code testé et accessible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verts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6544" y="21031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9424" y="228600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19424" y="329184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accessibilité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1031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228600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15888" y="329184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(FR/EN/ES)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29471" y="2103120"/>
            <a:ext cx="2522144" cy="1828800"/>
          </a:xfrm>
          <a:prstGeom prst="roundRect">
            <a:avLst>
              <a:gd name="adj" fmla="val 400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2351" y="2286000"/>
            <a:ext cx="2156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107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212351" y="329184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 documentés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1E1E24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Couverture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892040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tests backend (PHPUnit) · 55 tests frontend (Vitest) · WCAG 2.1 AA · navigation clavier complète · contrastes vérifiés · respect de prefers-reduced-motion.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DÉMONSTRATION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à la démo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Inscription  →  catalogue  →  panier  →  paiement Stripe  →  facture PDF  →  back-office admin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+ application mobile en direct.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DIFFICULTÉS &amp;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nous avons appris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81448" cy="1783080"/>
          </a:xfrm>
          <a:prstGeom prst="roundRect">
            <a:avLst>
              <a:gd name="adj" fmla="val 4103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146304" cy="11430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3317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Synchroniser web et mobile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80160" y="2880360"/>
            <a:ext cx="422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unique consommée par les deux clients, sans duplication de logique.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70168" y="2011680"/>
            <a:ext cx="5181448" cy="1783080"/>
          </a:xfrm>
          <a:prstGeom prst="roundRect">
            <a:avLst>
              <a:gd name="adj" fmla="val 4103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90208" y="2331720"/>
            <a:ext cx="146304" cy="11430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010248" y="23317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Paiement et webhooks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10248" y="2880360"/>
            <a:ext cx="422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signature et gestion asynchrone des statuts de commande.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181448" cy="1783080"/>
          </a:xfrm>
          <a:prstGeom prst="roundRect">
            <a:avLst>
              <a:gd name="adj" fmla="val 4103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480560"/>
            <a:ext cx="146304" cy="114300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48056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et fraude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80160" y="5029200"/>
            <a:ext cx="422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2FA, throttling, scoring de fraude et sessions sécurisées.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70168" y="4160520"/>
            <a:ext cx="5181448" cy="1783080"/>
          </a:xfrm>
          <a:prstGeom prst="roundRect">
            <a:avLst>
              <a:gd name="adj" fmla="val 4103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0208" y="4480560"/>
            <a:ext cx="146304" cy="11430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248" y="448056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Travail en équipe à 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10248" y="5029200"/>
            <a:ext cx="422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claire des rôles, Trello et revues de code régulières.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BILAN &amp; PERSPECTIVES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projet complet, et la suite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6161A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atteints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+ mobile fonctionnelle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337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tickets du backlog couverts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Paiement, sécurité et back-office complets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4526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et tests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5059375" cy="3931920"/>
          </a:xfrm>
          <a:prstGeom prst="roundRect">
            <a:avLst>
              <a:gd name="adj" fmla="val 1860"/>
            </a:avLst>
          </a:prstGeom>
          <a:solidFill>
            <a:srgbClr val="1E1E24"/>
          </a:solidFill>
          <a:ln w="12700">
            <a:solidFill>
              <a:srgbClr val="2D2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Perspectives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0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2743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en production (cloud)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0" y="33101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310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automatisé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0" y="38770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38770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mobiles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0" y="444398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439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analytics avancé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50109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partenaires / revendeurs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6400800" cy="640080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questions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Mouad BOUNOKRA  ·  Pharell TITI  ·  Nolwen FERNANDES  ·  Wissal LIDAM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CynaSecure Marketplace+  —  H3 HITEMA  · 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2026-06-17T04:48:39Z</dcterms:created>
  <dcterms:modified xsi:type="dcterms:W3CDTF">2026-06-17T04:48:39Z</dcterms:modified>
</cp:coreProperties>
</file>